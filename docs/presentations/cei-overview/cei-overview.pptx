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Contribution 1: the graph representation (comparison/standardized/clinical_graph_v2/graph.py). Typed nodes: patient, index visit, complaints, vitals, lab measurements/analytes, optional prior diagnoses. baseline_of / trajectory_of carry signed delta, elapsed hours and rate - a two-endpoint quantity a flat row cannot hold. Prior visits enter through visit membership of their measurements/diagnoses. The index diagnosis is the target, never an input. Directions: has_visit/index_visit_of and has_prior_diagnosis/recurrence_of are inverse pairs; co_complaint and comorbid_with are symmetric (tensorize.py lines 34-44). Forward view is the default (train.py ~213-219, 1046-1050) and is used by the core CEI v3 study (cei_v3_run.py ~210). Optional bidirectional mode adds rev:* edges for 9 relation types; only a bounded train/dev smoke (E6a) was run, so no reported result uses it. Caveat: temporal availability of several sources is assumed, not verified (temporal_clean=false); do not call the graph fully leakage-free. The figure is schematic and contains no patient records. No literature-novelty claim is 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Contribution 2: CEI-GNN, a class-specific exact signed evidence decomposition of the diagnosis logit (methods/cei_gnn.py, cei_gnn_v2.py, cei_gnn_v3.py). Logit(class) = bias + normalised node + edge + within-visit pair + absence contributions. Nodes carry identity, type and numeric encoding; edges inspect both endpoints plus relation payload and are aggregated separately. PLE: train-fitted piecewise-linear encoding for lab/vital values, K=4 selected. Absence block means 'no recorded result at the index visit' - not a negative finding and not proof that a test was not ordered; missingness reflects the recording/care process. The decomposition is exact on logits, not probabilities. The method name CEI-GNN is used without an invented expansion. v3 uses the v2 additive pair mode; the multiplicative pair interaction did not succeed.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docs/cei-v3-delivery-2026-10-01.md and docs/cei-v3-evidence-2026-10-01.json (aggregate only). Cohort: max6 (patients with more than 6 total visits excluded), train-derived Top-10 classes; 10,000 train, 5,000 dev (selection), 5,000 screen visits, 4,254 validation. Seeds 1234/2025/7, patient-disjoint; key weighted_macro_f1 (patient-equal). Held-out test untouched. Screen seed means: CEI v3 C 0.6418, v2 A 0.6420, ProtGNN 0.6371, XGBoost 0.6371. No screen contrast passes the preregistered rule; v3 benefit over v2 not demonstrated. Validation second-look (opened after the inconclusive screen, no multiplicity correction, 3 seeds): C 0.6395 vs ProtGNN 0.6303, delta 0.0092 (95% CI 0.0024-0.0153); not a broad winner claim, and no XGBoost victory is claimed. A non-significant interval is not evidence of equivalence. GraphXAI: 500 screen visits / 498 subjects, 3 seeds; comparison using Grad and IG: CEI outperforms ProtGNN on fidelity-minus and sparsity, not uniformly on fidelity-plus; native ProtGNN attribution unavailable in this implementation. Faithfulness to the model, not clinical validity. Arm C absence evidence share is about 1.7-1.8%, averaged over visits; arm B without absence is above C on screen, so no benefit of absence evidence is shown.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Arial"/>
              </a:rPr>
              <a:t>A shared clinical graph, not a flat patient record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051560"/>
            <a:ext cx="822960" cy="45720"/>
          </a:xfrm>
          <a:prstGeom prst="rect">
            <a:avLst/>
          </a:prstGeom>
          <a:solidFill>
            <a:srgbClr val="0B7A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800" b="0">
                <a:solidFill>
                  <a:srgbClr val="555555"/>
                </a:solidFill>
                <a:latin typeface="Arial"/>
              </a:rPr>
              <a:t>One typed graph per decision-time visit: patient, visits, complaints, labs and vitals, with numeric change between earlier and index results kept on the edge. Saved as a reusable project asset.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1901952"/>
            <a:ext cx="3566160" cy="4297680"/>
          </a:xfrm>
          <a:prstGeom prst="roundRect">
            <a:avLst>
              <a:gd name="adj" fmla="val 12000"/>
            </a:avLst>
          </a:prstGeom>
          <a:solidFill>
            <a:srgbClr val="FAFAFA"/>
          </a:solidFill>
          <a:ln w="15875">
            <a:solidFill>
              <a:srgbClr val="BBBBB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929384"/>
            <a:ext cx="3383279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96" b="1">
                <a:solidFill>
                  <a:srgbClr val="555555"/>
                </a:solidFill>
                <a:latin typeface="Arial"/>
              </a:rPr>
              <a:t>Earlier visits (before decision time)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3984" y="1901952"/>
            <a:ext cx="7132320" cy="4297680"/>
          </a:xfrm>
          <a:prstGeom prst="roundRect">
            <a:avLst>
              <a:gd name="adj" fmla="val 12000"/>
            </a:avLst>
          </a:prstGeom>
          <a:solidFill>
            <a:srgbClr val="FAFAFA"/>
          </a:solidFill>
          <a:ln w="15875">
            <a:solidFill>
              <a:srgbClr val="BBBBB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35424" y="1929384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96" b="1">
                <a:solidFill>
                  <a:srgbClr val="555555"/>
                </a:solidFill>
                <a:latin typeface="Arial"/>
              </a:rPr>
              <a:t>Index visit (decision time)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358384" y="2724912"/>
            <a:ext cx="0" cy="54864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5998464" y="2359152"/>
            <a:ext cx="1371600" cy="109728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5998464" y="3090672"/>
            <a:ext cx="1371600" cy="36576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998464" y="3456432"/>
            <a:ext cx="1371600" cy="45720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998464" y="3456432"/>
            <a:ext cx="1371600" cy="164592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193024" y="2542032"/>
            <a:ext cx="0" cy="365760"/>
          </a:xfrm>
          <a:prstGeom prst="line">
            <a:avLst/>
          </a:prstGeom>
          <a:ln w="19050">
            <a:solidFill>
              <a:srgbClr val="11111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193024" y="5285232"/>
            <a:ext cx="0" cy="41148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06624" y="3456432"/>
            <a:ext cx="2011680" cy="0"/>
          </a:xfrm>
          <a:prstGeom prst="line">
            <a:avLst/>
          </a:prstGeom>
          <a:ln w="19050">
            <a:solidFill>
              <a:srgbClr val="111111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792224" y="4325112"/>
            <a:ext cx="0" cy="59436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06624" y="5102352"/>
            <a:ext cx="4663440" cy="0"/>
          </a:xfrm>
          <a:prstGeom prst="line">
            <a:avLst/>
          </a:prstGeom>
          <a:ln w="31750">
            <a:solidFill>
              <a:srgbClr val="0B7A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792224" y="5285232"/>
            <a:ext cx="0" cy="59436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792224" y="5879592"/>
            <a:ext cx="5577840" cy="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718304" y="2359152"/>
            <a:ext cx="1280160" cy="365760"/>
          </a:xfrm>
          <a:prstGeom prst="roundRect">
            <a:avLst>
              <a:gd name="adj" fmla="val 12000"/>
            </a:avLst>
          </a:prstGeom>
          <a:solidFill>
            <a:srgbClr val="DCE6F2"/>
          </a:solidFill>
          <a:ln w="19050">
            <a:solidFill>
              <a:srgbClr val="1632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Patient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18304" y="3273552"/>
            <a:ext cx="1280160" cy="365760"/>
          </a:xfrm>
          <a:prstGeom prst="roundRect">
            <a:avLst>
              <a:gd name="adj" fmla="val 12000"/>
            </a:avLst>
          </a:prstGeom>
          <a:solidFill>
            <a:srgbClr val="DCE6F2"/>
          </a:solidFill>
          <a:ln w="19050">
            <a:solidFill>
              <a:srgbClr val="1632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Index visit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70064" y="2176272"/>
            <a:ext cx="1645920" cy="365760"/>
          </a:xfrm>
          <a:prstGeom prst="roundRect">
            <a:avLst>
              <a:gd name="adj" fmla="val 12000"/>
            </a:avLst>
          </a:prstGeom>
          <a:solidFill>
            <a:srgbClr val="FCE8CF"/>
          </a:solidFill>
          <a:ln w="19050">
            <a:solidFill>
              <a:srgbClr val="9A5B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Complaint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70064" y="2907792"/>
            <a:ext cx="1645920" cy="365760"/>
          </a:xfrm>
          <a:prstGeom prst="roundRect">
            <a:avLst>
              <a:gd name="adj" fmla="val 12000"/>
            </a:avLst>
          </a:prstGeom>
          <a:solidFill>
            <a:srgbClr val="FCE8CF"/>
          </a:solidFill>
          <a:ln w="19050">
            <a:solidFill>
              <a:srgbClr val="9A5B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Complaint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70064" y="3730752"/>
            <a:ext cx="1645920" cy="365760"/>
          </a:xfrm>
          <a:prstGeom prst="roundRect">
            <a:avLst>
              <a:gd name="adj" fmla="val 12000"/>
            </a:avLst>
          </a:prstGeom>
          <a:solidFill>
            <a:srgbClr val="E1F2DE"/>
          </a:solidFill>
          <a:ln w="19050">
            <a:solidFill>
              <a:srgbClr val="3C7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Vital sign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70064" y="4919472"/>
            <a:ext cx="1645920" cy="365760"/>
          </a:xfrm>
          <a:prstGeom prst="roundRect">
            <a:avLst>
              <a:gd name="adj" fmla="val 12000"/>
            </a:avLst>
          </a:prstGeom>
          <a:solidFill>
            <a:srgbClr val="D2EEF0"/>
          </a:solidFill>
          <a:ln w="19050">
            <a:solidFill>
              <a:srgbClr val="0B7A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Lab result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70064" y="5696712"/>
            <a:ext cx="1645920" cy="365760"/>
          </a:xfrm>
          <a:prstGeom prst="roundRect">
            <a:avLst>
              <a:gd name="adj" fmla="val 12000"/>
            </a:avLst>
          </a:prstGeom>
          <a:solidFill>
            <a:srgbClr val="D2EEF0"/>
          </a:solidFill>
          <a:ln w="19050">
            <a:solidFill>
              <a:srgbClr val="0B7A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Analyte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7824" y="3273552"/>
            <a:ext cx="1828800" cy="365760"/>
          </a:xfrm>
          <a:prstGeom prst="roundRect">
            <a:avLst>
              <a:gd name="adj" fmla="val 12000"/>
            </a:avLst>
          </a:prstGeom>
          <a:solidFill>
            <a:srgbClr val="EBDDF1"/>
          </a:solidFill>
          <a:ln w="19050">
            <a:solidFill>
              <a:srgbClr val="6B3A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Prior diagnosis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7824" y="3959352"/>
            <a:ext cx="1828800" cy="365760"/>
          </a:xfrm>
          <a:prstGeom prst="roundRect">
            <a:avLst>
              <a:gd name="adj" fmla="val 12000"/>
            </a:avLst>
          </a:prstGeom>
          <a:solidFill>
            <a:srgbClr val="D2EEF0"/>
          </a:solidFill>
          <a:ln w="19050">
            <a:solidFill>
              <a:srgbClr val="0B7A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Prior lab result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7824" y="4919472"/>
            <a:ext cx="1828800" cy="365760"/>
          </a:xfrm>
          <a:prstGeom prst="roundRect">
            <a:avLst>
              <a:gd name="adj" fmla="val 12000"/>
            </a:avLst>
          </a:prstGeom>
          <a:solidFill>
            <a:srgbClr val="D2EEF0"/>
          </a:solidFill>
          <a:ln w="19050">
            <a:solidFill>
              <a:srgbClr val="0B7A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Prior lab result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22392" y="2898648"/>
            <a:ext cx="784189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l"/>
            <a:r>
              <a:rPr sz="1152" b="0">
                <a:solidFill>
                  <a:srgbClr val="111111"/>
                </a:solidFill>
                <a:latin typeface="Arial"/>
              </a:rPr>
              <a:t>has_visit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76152" y="2642616"/>
            <a:ext cx="1416222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ctr"/>
            <a:r>
              <a:rPr sz="1152" b="0">
                <a:solidFill>
                  <a:srgbClr val="111111"/>
                </a:solidFill>
                <a:latin typeface="Arial"/>
              </a:rPr>
              <a:t>reports_complaint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4658" y="3557016"/>
            <a:ext cx="1179210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ctr"/>
            <a:r>
              <a:rPr sz="1152" b="0">
                <a:solidFill>
                  <a:srgbClr val="111111"/>
                </a:solidFill>
                <a:latin typeface="Arial"/>
              </a:rPr>
              <a:t>observed_vital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33205" y="4251959"/>
            <a:ext cx="942197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ctr"/>
            <a:r>
              <a:rPr sz="1152" b="0">
                <a:solidFill>
                  <a:srgbClr val="111111"/>
                </a:solidFill>
                <a:latin typeface="Arial"/>
              </a:rPr>
              <a:t>measured_in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75320" y="2624328"/>
            <a:ext cx="1969251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l"/>
            <a:r>
              <a:rPr sz="1152" b="0">
                <a:solidFill>
                  <a:srgbClr val="111111"/>
                </a:solidFill>
                <a:latin typeface="Arial"/>
              </a:rPr>
              <a:t>co_complaint (both ways)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20" y="5394959"/>
            <a:ext cx="942197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l"/>
            <a:r>
              <a:rPr sz="1152" b="0">
                <a:solidFill>
                  <a:srgbClr val="111111"/>
                </a:solidFill>
                <a:latin typeface="Arial"/>
              </a:rPr>
              <a:t>instance_of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27838" y="3209544"/>
            <a:ext cx="1969251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ctr"/>
            <a:r>
              <a:rPr sz="1152" b="0">
                <a:solidFill>
                  <a:srgbClr val="111111"/>
                </a:solidFill>
                <a:latin typeface="Arial"/>
              </a:rPr>
              <a:t>recurrence_of (optional)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74519" y="4526280"/>
            <a:ext cx="1100206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l"/>
            <a:r>
              <a:rPr sz="1152" b="0">
                <a:solidFill>
                  <a:srgbClr val="111111"/>
                </a:solidFill>
                <a:latin typeface="Arial"/>
              </a:rPr>
              <a:t>trajectory_of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67245" y="4837176"/>
            <a:ext cx="942197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ctr"/>
            <a:r>
              <a:rPr sz="1152" b="1">
                <a:solidFill>
                  <a:srgbClr val="0B7A75"/>
                </a:solidFill>
                <a:latin typeface="Arial"/>
              </a:rPr>
              <a:t>baseline_of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35211" y="5202936"/>
            <a:ext cx="2206264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ctr"/>
            <a:r>
              <a:rPr sz="1152" b="0">
                <a:solidFill>
                  <a:srgbClr val="111111"/>
                </a:solidFill>
                <a:latin typeface="Arial"/>
              </a:rPr>
              <a:t>Δ value, Δ time on the edge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972885" y="5623559"/>
            <a:ext cx="942197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ctr"/>
            <a:r>
              <a:rPr sz="1152" b="0">
                <a:solidFill>
                  <a:srgbClr val="111111"/>
                </a:solidFill>
                <a:latin typeface="Arial"/>
              </a:rPr>
              <a:t>instance_of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327648"/>
            <a:ext cx="110642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Arial"/>
              </a:rPr>
              <a:t>Forward view in the core study; typed reverse edges are optional.  Schematic — not patient data.  Asset: docs/presentations/cei-overview/assets/clinical-graph.svg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Arial"/>
              </a:rPr>
              <a:t>CEI-GNN: a diagnosis score you can decompose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051560"/>
            <a:ext cx="822960" cy="45720"/>
          </a:xfrm>
          <a:prstGeom prst="rect">
            <a:avLst/>
          </a:prstGeom>
          <a:solidFill>
            <a:srgbClr val="0B7A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800" b="0">
                <a:solidFill>
                  <a:srgbClr val="555555"/>
                </a:solidFill>
                <a:latin typeface="Arial"/>
              </a:rPr>
              <a:t>Each class score is an exact sum of signed evidence terms: positive supports the class, negative opposes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5760720" cy="713232"/>
          </a:xfrm>
          <a:prstGeom prst="roundRect">
            <a:avLst>
              <a:gd name="adj" fmla="val 12000"/>
            </a:avLst>
          </a:prstGeom>
          <a:solidFill>
            <a:srgbClr val="DCE6F2"/>
          </a:solidFill>
          <a:ln w="19050">
            <a:solidFill>
              <a:srgbClr val="1632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48256"/>
            <a:ext cx="54864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Arial"/>
              </a:rPr>
              <a:t>Node evidence</a:t>
            </a:r>
            <a:r>
              <a:rPr sz="1500" b="0">
                <a:solidFill>
                  <a:srgbClr val="555555"/>
                </a:solidFill>
                <a:latin typeface="Arial"/>
              </a:rPr>
              <a:t>  –  what each node is, its type and its numeric value (labs/vitals via PLE)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0" y="2368296"/>
            <a:ext cx="502920" cy="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2834640"/>
            <a:ext cx="5760720" cy="713232"/>
          </a:xfrm>
          <a:prstGeom prst="roundRect">
            <a:avLst>
              <a:gd name="adj" fmla="val 12000"/>
            </a:avLst>
          </a:prstGeom>
          <a:solidFill>
            <a:srgbClr val="D2EEF0"/>
          </a:solidFill>
          <a:ln w="19050">
            <a:solidFill>
              <a:srgbClr val="0B7A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871216"/>
            <a:ext cx="54864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Arial"/>
              </a:rPr>
              <a:t>Edge evidence</a:t>
            </a:r>
            <a:r>
              <a:rPr sz="1500" b="0">
                <a:solidFill>
                  <a:srgbClr val="555555"/>
                </a:solidFill>
                <a:latin typeface="Arial"/>
              </a:rPr>
              <a:t>  –  both endpoints plus relation payload, e.g. a rise since baseline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0" y="3191256"/>
            <a:ext cx="502920" cy="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40080" y="3657600"/>
            <a:ext cx="5760720" cy="713232"/>
          </a:xfrm>
          <a:prstGeom prst="roundRect">
            <a:avLst>
              <a:gd name="adj" fmla="val 12000"/>
            </a:avLst>
          </a:prstGeom>
          <a:solidFill>
            <a:srgbClr val="FCE8CF"/>
          </a:solidFill>
          <a:ln w="19050">
            <a:solidFill>
              <a:srgbClr val="9A5B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694176"/>
            <a:ext cx="54864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Arial"/>
              </a:rPr>
              <a:t>Within-visit pair evidence</a:t>
            </a:r>
            <a:r>
              <a:rPr sz="1500" b="0">
                <a:solidFill>
                  <a:srgbClr val="555555"/>
                </a:solidFill>
                <a:latin typeface="Arial"/>
              </a:rPr>
              <a:t>  –  additive pair terms inside one visit (v2 mode, kept in v3)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0" y="4014215"/>
            <a:ext cx="502920" cy="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40080" y="4480560"/>
            <a:ext cx="5760720" cy="713232"/>
          </a:xfrm>
          <a:prstGeom prst="roundRect">
            <a:avLst>
              <a:gd name="adj" fmla="val 12000"/>
            </a:avLst>
          </a:prstGeom>
          <a:solidFill>
            <a:srgbClr val="EBDDF1"/>
          </a:solidFill>
          <a:ln w="19050">
            <a:solidFill>
              <a:srgbClr val="6B3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517136"/>
            <a:ext cx="54864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Arial"/>
              </a:rPr>
              <a:t>Absence evidence</a:t>
            </a:r>
            <a:r>
              <a:rPr sz="1500" b="0">
                <a:solidFill>
                  <a:srgbClr val="555555"/>
                </a:solidFill>
                <a:latin typeface="Arial"/>
              </a:rPr>
              <a:t>  –  “No recorded result at the index visit”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0" y="4837176"/>
            <a:ext cx="502920" cy="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40080" y="5303520"/>
            <a:ext cx="5760720" cy="713232"/>
          </a:xfrm>
          <a:prstGeom prst="roundRect">
            <a:avLst>
              <a:gd name="adj" fmla="val 12000"/>
            </a:avLst>
          </a:prstGeom>
          <a:solidFill>
            <a:srgbClr val="F1F1F1"/>
          </a:solidFill>
          <a:ln w="19050">
            <a:solidFill>
              <a:srgbClr val="7777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340096"/>
            <a:ext cx="54864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Arial"/>
              </a:rPr>
              <a:t>Class bias</a:t>
            </a:r>
            <a:r>
              <a:rPr sz="1500" b="0">
                <a:solidFill>
                  <a:srgbClr val="555555"/>
                </a:solidFill>
                <a:latin typeface="Arial"/>
              </a:rPr>
              <a:t>  –  a per-class constant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0" y="5660136"/>
            <a:ext cx="502920" cy="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03720" y="2368296"/>
            <a:ext cx="0" cy="329184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903720" y="4014215"/>
            <a:ext cx="502920" cy="0"/>
          </a:xfrm>
          <a:prstGeom prst="line">
            <a:avLst/>
          </a:prstGeom>
          <a:ln w="38100">
            <a:solidFill>
              <a:srgbClr val="0B7A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452360" y="3017520"/>
            <a:ext cx="4160520" cy="2011680"/>
          </a:xfrm>
          <a:prstGeom prst="roundRect">
            <a:avLst>
              <a:gd name="adj" fmla="val 12000"/>
            </a:avLst>
          </a:prstGeom>
          <a:solidFill>
            <a:srgbClr val="D2EEF0"/>
          </a:solidFill>
          <a:ln w="28575">
            <a:solidFill>
              <a:srgbClr val="0B7A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43800" y="3108960"/>
            <a:ext cx="3977639" cy="18288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rial"/>
              </a:rPr>
              <a:t>Class score (logit)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111111"/>
                </a:solidFill>
                <a:latin typeface="Arial"/>
              </a:rPr>
              <a:t>= bias + node + edge + pair + absence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555555"/>
                </a:solidFill>
                <a:latin typeface="Arial"/>
              </a:rPr>
              <a:t>Scores, not probabilities. One such decomposition per class.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1920240"/>
            <a:ext cx="416052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0">
                <a:solidFill>
                  <a:srgbClr val="111111"/>
                </a:solidFill>
                <a:latin typeface="Arial"/>
              </a:rPr>
              <a:t>Not a deep message-passing GNN: nodes and edges are scored and aggregated separately, so every term can be read off.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5212080"/>
            <a:ext cx="41605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rial"/>
              </a:rPr>
              <a:t>Missing results reflect the recording and care process, not a negative finding or causal explanation.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327648"/>
            <a:ext cx="110642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Arial"/>
              </a:rPr>
              <a:t>PLE = piecewise-linear encoding of numeric values, fitted on training data (K = 4 selected). CEI v3 builds on the additive v2 pair mode; the multiplicative pair interaction was not successful.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Arial"/>
              </a:rPr>
              <a:t>What the evidence supports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051560"/>
            <a:ext cx="822960" cy="45720"/>
          </a:xfrm>
          <a:prstGeom prst="rect">
            <a:avLst/>
          </a:prstGeom>
          <a:solidFill>
            <a:srgbClr val="0B7A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7607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600" b="1">
                <a:solidFill>
                  <a:srgbClr val="555555"/>
                </a:solidFill>
                <a:latin typeface="Arial"/>
              </a:rPr>
              <a:t>Primary screen, macro-F1 (3-seed mean)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83080"/>
          <a:ext cx="576072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828800"/>
              </a:tblGrid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1">
                          <a:solidFill>
                            <a:srgbClr val="FFFFFF"/>
                          </a:solidFill>
                          <a:latin typeface="Arial"/>
                        </a:rPr>
                        <a:t>Macro-F1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111111"/>
                          </a:solidFill>
                          <a:latin typeface="Arial"/>
                        </a:rPr>
                        <a:t>CEI-GNN v3 (arm C)</a:t>
                      </a:r>
                    </a:p>
                  </a:txBody>
                  <a:tcPr anchor="ctr">
                    <a:solidFill>
                      <a:srgbClr val="D2EE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1">
                          <a:solidFill>
                            <a:srgbClr val="111111"/>
                          </a:solidFill>
                          <a:latin typeface="Arial"/>
                        </a:rPr>
                        <a:t>0.6418</a:t>
                      </a:r>
                    </a:p>
                  </a:txBody>
                  <a:tcPr anchor="ctr">
                    <a:solidFill>
                      <a:srgbClr val="D2EEF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11111"/>
                          </a:solidFill>
                          <a:latin typeface="Arial"/>
                        </a:rPr>
                        <a:t>CEI-GNN v2 (arm A)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>
                          <a:solidFill>
                            <a:srgbClr val="111111"/>
                          </a:solidFill>
                          <a:latin typeface="Arial"/>
                        </a:rPr>
                        <a:t>0.6420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11111"/>
                          </a:solidFill>
                          <a:latin typeface="Arial"/>
                        </a:rPr>
                        <a:t>ProtGNN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>
                          <a:solidFill>
                            <a:srgbClr val="111111"/>
                          </a:solidFill>
                          <a:latin typeface="Arial"/>
                        </a:rPr>
                        <a:t>0.6371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11111"/>
                          </a:solidFill>
                          <a:latin typeface="Arial"/>
                        </a:rPr>
                        <a:t>XGBoost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>
                          <a:solidFill>
                            <a:srgbClr val="111111"/>
                          </a:solidFill>
                          <a:latin typeface="Arial"/>
                        </a:rPr>
                        <a:t>0.6371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617720"/>
            <a:ext cx="576072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0B7A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663440"/>
            <a:ext cx="5486400" cy="10515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0B7A75"/>
                </a:solidFill>
                <a:latin typeface="Arial"/>
              </a:rPr>
              <a:t>No decisive screen gain yet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111"/>
                </a:solidFill>
                <a:latin typeface="Arial"/>
              </a:rPr>
              <a:t>No contrast passes the preregistered rule; v3 over v2: −0.0002, 95% CI [−0.0047, +0.0042].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280160"/>
            <a:ext cx="4937760" cy="44805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000" b="1">
                <a:solidFill>
                  <a:srgbClr val="16324F"/>
                </a:solidFill>
                <a:latin typeface="Arial"/>
              </a:rPr>
              <a:t>What we can say</a:t>
            </a:r>
          </a:p>
          <a:p>
            <a:pPr algn="l">
              <a:spcBef>
                <a:spcPts val="600"/>
              </a:spcBef>
            </a:pPr>
            <a:r>
              <a:rPr sz="1800" b="1">
                <a:solidFill>
                  <a:srgbClr val="111111"/>
                </a:solidFill>
                <a:latin typeface="Arial"/>
              </a:rPr>
              <a:t>Interpretable by construction. </a:t>
            </a:r>
            <a:r>
              <a:rPr sz="1800" b="0">
                <a:solidFill>
                  <a:srgbClr val="111111"/>
                </a:solidFill>
                <a:latin typeface="Arial"/>
              </a:rPr>
              <a:t>Every CEI score splits exactly into signed evidence terms.</a:t>
            </a:r>
          </a:p>
          <a:p>
            <a:pPr algn="l">
              <a:spcBef>
                <a:spcPts val="600"/>
              </a:spcBef>
            </a:pPr>
            <a:r>
              <a:rPr sz="1800" b="1">
                <a:solidFill>
                  <a:srgbClr val="111111"/>
                </a:solidFill>
                <a:latin typeface="Arial"/>
              </a:rPr>
              <a:t>Explanation evidence is mixed. </a:t>
            </a:r>
            <a:r>
              <a:rPr sz="1800" b="0">
                <a:solidFill>
                  <a:srgbClr val="111111"/>
                </a:solidFill>
                <a:latin typeface="Arial"/>
              </a:rPr>
              <a:t>Using Grad and IG on 500 screen visits, CEI outperforms ProtGNN on fidelity-minus and sparsity, not uniformly on fidelity-plus. Native ProtGNN attribution was unavailable in this implementation.</a:t>
            </a:r>
          </a:p>
          <a:p>
            <a:pPr algn="l">
              <a:spcBef>
                <a:spcPts val="600"/>
              </a:spcBef>
            </a:pPr>
            <a:r>
              <a:rPr sz="1800" b="1">
                <a:solidFill>
                  <a:srgbClr val="111111"/>
                </a:solidFill>
                <a:latin typeface="Arial"/>
              </a:rPr>
              <a:t>Superiority is not established. </a:t>
            </a:r>
            <a:r>
              <a:rPr sz="1800" b="0">
                <a:solidFill>
                  <a:srgbClr val="111111"/>
                </a:solidFill>
                <a:latin typeface="Arial"/>
              </a:rPr>
              <a:t>The screen is inconclusive; this does not prove equivalence.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72200"/>
            <a:ext cx="110642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Arial"/>
              </a:rPr>
              <a:t>Max6 cohort, train-derived Top-10 classes; 10,000 train / 5,000 screen visits; seeds 1234, 2025, 7; patient-disjoint splits; rounded seed means. Held-out test never accessed.  Source: docs/cei-v3-evidence-2026-10-01.json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