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Contribution 1: the graph representation (comparison/standardized/clinical_graph_v2/graph.py). Typed nodes: patient, index visit, complaints, vitals, lab measurements/analytes, optional prior diagnoses. baseline_of / trajectory_of carry signed delta, elapsed hours and rate - a two-endpoint quantity a flat row cannot hold. Prior visits enter through visit membership of their measurements/diagnoses. The index diagnosis is the target, never an input. Directions: has_visit/index_visit_of and has_prior_diagnosis/recurrence_of are inverse pairs; co_complaint and comorbid_with are symmetric (tensorize.py lines 34-44). Forward view is the default (train.py ~213-219, 1046-1050) and is used by the core CEI v3 study (cei_v3_run.py ~210). Optional bidirectional mode adds rev:* edges for 9 relation types; only a bounded train/dev smoke (E6a) was run, so no reported result uses it. Caveat: temporal availability of several sources is assumed, not verified (temporal_clean=false); do not call the graph fully leakage-free. The figure is schematic and contains no patient records. No literature-novelty claim is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Contribution 2: CEI-GNN, a class-specific exact signed evidence decomposition of the diagnosis logit (methods/cei_gnn.py, cei_gnn_v2.py, cei_gnn_v3.py). Logit(class) = bias + normalised node + edge + within-visit pair + absence contributions. Nodes carry identity, type and numeric encoding; edges inspect both endpoints plus relation payload and are aggregated separately. PLE: train-fitted piecewise-linear encoding for lab/vital values, K=4 selected. Absence block means 'no recorded result at the index visit' - not a negative finding and not proof that a test was not ordered; missingness reflects the recording/care process. The decomposition is exact on logits, not probabilities. The method name CEI-GNN is used without an invented expansion. v3 uses the v2 additive pair mode; the multiplicative pair interaction did not succeed.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keys: docs/cei-v3-evidence-2026-10-01.json graphxai.seed_means and graphxai.C_minus_P. Absolute seed means C_K4 / P, rounded to 3 decimals:</a:t>
            </a:r>
          </a:p>
          <a:p>
            <a:r>
              <a:t>Native: fidelity_minus=0.105/N/A; fidelity_plus=0.554/N/A; sparsity=0.700/N/A</a:t>
            </a:r>
          </a:p>
          <a:p>
            <a:r>
              <a:t>GradExplainer: fidelity_minus=0.144/0.571; fidelity_plus=0.509/0.510; sparsity=0.513/0.388</a:t>
            </a:r>
          </a:p>
          <a:p>
            <a:r>
              <a:t>IntegratedGradExplainer: fidelity_minus=0.100/0.570; fidelity_plus=0.538/0.535; sparsity=0.521/0.289</a:t>
            </a:r>
          </a:p>
          <a:p>
            <a:r>
              <a:t>GNNExplainer: fidelity_minus=0.398/0.576; fidelity_plus=0.216/0.381; sparsity=0.269/0.270</a:t>
            </a:r>
          </a:p>
          <a:p>
            <a:r>
              <a:t>Random: fidelity_minus=0.484/0.578; fidelity_plus=0.107/0.309; sparsity=0.285/0.285</a:t>
            </a:r>
          </a:p>
          <a:p>
            <a:r>
              <a:t>Paired differences are C_minus_P, not absolute scores; 95% paired subject-cluster bootstrap CIs, conditional on three checkpoints:</a:t>
            </a:r>
          </a:p>
          <a:p>
            <a:r>
              <a:t>GradExplainer: fidelity_minus: delta C_minus_P=-0.427162, 95% CI=[-0.44985684363473355, -0.40430027914714267]; fidelity_plus: delta C_minus_P=-0.000864, 95% CI=[-0.018268945488595492, 0.01593477348389595]; sparsity: delta C_minus_P=0.125484, 95% CI=[0.11304490685296074, 0.13725250397127586]</a:t>
            </a:r>
          </a:p>
          <a:p>
            <a:r>
              <a:t>IntegratedGradExplainer: fidelity_minus: delta C_minus_P=-0.470263, 95% CI=[-0.4935411711680781, -0.44786387276011425]; fidelity_plus: delta C_minus_P=0.003283, 95% CI=[-0.01288460690326586, 0.018862188015107674]; sparsity: delta C_minus_P=0.231820, 95% CI=[0.2217338810107095, 0.2406996905288059]</a:t>
            </a:r>
          </a:p>
          <a:p>
            <a:r>
              <a:t>GNNExplainer: fidelity_minus: delta C_minus_P=-0.177784, 95% CI=[-0.20115243419378384, -0.15470507840750994]; fidelity_plus: delta C_minus_P=-0.165147, 95% CI=[-0.18303717712992937, -0.14623125127908276]; sparsity: delta C_minus_P=-0.000995, 95% CI=[-0.002651219104876419, 0.0006569820379281496]</a:t>
            </a:r>
          </a:p>
          <a:p>
            <a:r>
              <a:t>Random: fidelity_minus: delta C_minus_P=-0.094264, 95% CI=[-0.11447657641503317, -0.07460849767977928]; fidelity_plus: delta C_minus_P=-0.201560, 95% CI=[-0.2187959747065453, -0.18241111693875542]; sparsity: delta C_minus_P=0.000000, 95% CI=[0.0, 0.0]</a:t>
            </a:r>
          </a:p>
          <a:p>
            <a:r>
              <a:t>Fidelity-minus: probability drop when only important node inputs are kept (other node inputs are zeroed; edges are unchanged); fidelity-plus: drop when important node inputs are masked (zeroed; edges are unchanged). Sparsity is fraction excluded at 90% importance mass. Cohort: 500 screen visits / 498 subjects / 3 seeds. Native ProtGNN unavailable. These are model-faithfulness metrics, not clinical validity. No macro-F1 superiority or equivalence claim.</a:t>
            </a:r>
          </a:p>
          <a:p/>
          <a:p>
            <a:r>
              <a:t>Parameter counts (verified from the parent-run logical bindings; no checkpoint loading): CEI-GNN v3 C_K4 has 94,380 registered parameters, all active. CEI-GNN v2 additive control A is implemented in the v3 superset: 94,380 registered total, 92,300 active, 2,080 inactive. ProtGNN has 399,884 total, all active. These counts are identical across seeds 1234, 2025 and 7 and share preprocessing SHA-256 9a9ab7a4df8b9a9d6b6c56bc53335f94716df8041d2acd7428e7b512710c5ecd. Logical binding sources: core/C_K4_seed{seed}/binding.json, core/A_seed{seed}/binding.json, protgnn/P_seed{seed}/binding.json. Source roots: /Users/necatifurkancolak/AI-Workplace/Projects/current/MedGNN/.worktrees/run-cei3-core/comparison/standardized/clinical_runs_cei_v3_20260930 and /Users/necatifurkancolak/AI-Workplace/Projects/current/MedGNN/.worktrees/run-cei3-vs-protgnn/comparison/standardized/clinical_runs_cei_v3_vs_protgnn_20260930. XGBoost has no neural parameter count. Parameter counts do not establish compute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16324F"/>
                </a:solidFill>
                <a:latin typeface="Arial"/>
              </a:rPr>
              <a:t>A shared clinical graph, not a flat patient record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051560"/>
            <a:ext cx="822960" cy="45720"/>
          </a:xfrm>
          <a:prstGeom prst="rect">
            <a:avLst/>
          </a:prstGeom>
          <a:solidFill>
            <a:srgbClr val="0B7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Arial"/>
              </a:rPr>
              <a:t>One typed graph per decision-time visit: patient, visits, complaints, labs and vitals, with numeric change between earlier and index results kept on the edge. Saved as a reusable project asset.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1901952"/>
            <a:ext cx="3566160" cy="429768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5875">
            <a:solidFill>
              <a:srgbClr val="BBBB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929384"/>
            <a:ext cx="338327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96" b="1">
                <a:solidFill>
                  <a:srgbClr val="555555"/>
                </a:solidFill>
                <a:latin typeface="Arial"/>
              </a:rPr>
              <a:t>Earlier visits (before decision time)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1901952"/>
            <a:ext cx="7132320" cy="4297680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5875">
            <a:solidFill>
              <a:srgbClr val="BBBBB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35424" y="1929384"/>
            <a:ext cx="69494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96" b="1">
                <a:solidFill>
                  <a:srgbClr val="555555"/>
                </a:solidFill>
                <a:latin typeface="Arial"/>
              </a:rPr>
              <a:t>Index visit (decision time)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58384" y="2724912"/>
            <a:ext cx="0" cy="54864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998464" y="2359152"/>
            <a:ext cx="1371600" cy="109728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998464" y="3090672"/>
            <a:ext cx="1371600" cy="36576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98464" y="3456432"/>
            <a:ext cx="1371600" cy="45720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98464" y="3456432"/>
            <a:ext cx="1371600" cy="164592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93024" y="2542032"/>
            <a:ext cx="0" cy="365760"/>
          </a:xfrm>
          <a:prstGeom prst="line">
            <a:avLst/>
          </a:prstGeom>
          <a:ln w="19050">
            <a:solidFill>
              <a:srgbClr val="11111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93024" y="5285232"/>
            <a:ext cx="0" cy="41148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06624" y="3456432"/>
            <a:ext cx="2011680" cy="0"/>
          </a:xfrm>
          <a:prstGeom prst="line">
            <a:avLst/>
          </a:prstGeom>
          <a:ln w="19050">
            <a:solidFill>
              <a:srgbClr val="11111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792224" y="4325112"/>
            <a:ext cx="0" cy="59436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06624" y="5102352"/>
            <a:ext cx="4663440" cy="0"/>
          </a:xfrm>
          <a:prstGeom prst="line">
            <a:avLst/>
          </a:prstGeom>
          <a:ln w="31750">
            <a:solidFill>
              <a:srgbClr val="0B7A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92224" y="5285232"/>
            <a:ext cx="0" cy="59436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92224" y="5879592"/>
            <a:ext cx="5577840" cy="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18304" y="2359152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 w="1905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68" b="0">
                <a:solidFill>
                  <a:srgbClr val="111111"/>
                </a:solidFill>
                <a:latin typeface="Arial"/>
              </a:rPr>
              <a:t>Patient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18304" y="3273552"/>
            <a:ext cx="1280160" cy="365760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 w="1905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68" b="0">
                <a:solidFill>
                  <a:srgbClr val="111111"/>
                </a:solidFill>
                <a:latin typeface="Arial"/>
              </a:rPr>
              <a:t>Index visit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70064" y="2176272"/>
            <a:ext cx="1645920" cy="365760"/>
          </a:xfrm>
          <a:prstGeom prst="roundRect">
            <a:avLst>
              <a:gd name="adj" fmla="val 12000"/>
            </a:avLst>
          </a:prstGeom>
          <a:solidFill>
            <a:srgbClr val="FCE8CF"/>
          </a:solidFill>
          <a:ln w="19050">
            <a:solidFill>
              <a:srgbClr val="9A5B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68" b="0">
                <a:solidFill>
                  <a:srgbClr val="111111"/>
                </a:solidFill>
                <a:latin typeface="Arial"/>
              </a:rPr>
              <a:t>Complaint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70064" y="2907792"/>
            <a:ext cx="1645920" cy="365760"/>
          </a:xfrm>
          <a:prstGeom prst="roundRect">
            <a:avLst>
              <a:gd name="adj" fmla="val 12000"/>
            </a:avLst>
          </a:prstGeom>
          <a:solidFill>
            <a:srgbClr val="FCE8CF"/>
          </a:solidFill>
          <a:ln w="19050">
            <a:solidFill>
              <a:srgbClr val="9A5B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68" b="0">
                <a:solidFill>
                  <a:srgbClr val="111111"/>
                </a:solidFill>
                <a:latin typeface="Arial"/>
              </a:rPr>
              <a:t>Complaint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70064" y="3730752"/>
            <a:ext cx="1645920" cy="365760"/>
          </a:xfrm>
          <a:prstGeom prst="roundRect">
            <a:avLst>
              <a:gd name="adj" fmla="val 12000"/>
            </a:avLst>
          </a:prstGeom>
          <a:solidFill>
            <a:srgbClr val="E1F2DE"/>
          </a:solidFill>
          <a:ln w="19050">
            <a:solidFill>
              <a:srgbClr val="3C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68" b="0">
                <a:solidFill>
                  <a:srgbClr val="111111"/>
                </a:solidFill>
                <a:latin typeface="Arial"/>
              </a:rPr>
              <a:t>Vital sign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0064" y="4919472"/>
            <a:ext cx="1645920" cy="365760"/>
          </a:xfrm>
          <a:prstGeom prst="roundRect">
            <a:avLst>
              <a:gd name="adj" fmla="val 12000"/>
            </a:avLst>
          </a:prstGeom>
          <a:solidFill>
            <a:srgbClr val="D2EEF0"/>
          </a:solidFill>
          <a:ln w="19050">
            <a:solidFill>
              <a:srgbClr val="0B7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68" b="0">
                <a:solidFill>
                  <a:srgbClr val="111111"/>
                </a:solidFill>
                <a:latin typeface="Arial"/>
              </a:rPr>
              <a:t>Lab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70064" y="5696712"/>
            <a:ext cx="1645920" cy="365760"/>
          </a:xfrm>
          <a:prstGeom prst="roundRect">
            <a:avLst>
              <a:gd name="adj" fmla="val 12000"/>
            </a:avLst>
          </a:prstGeom>
          <a:solidFill>
            <a:srgbClr val="D2EEF0"/>
          </a:solidFill>
          <a:ln w="19050">
            <a:solidFill>
              <a:srgbClr val="0B7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68" b="0">
                <a:solidFill>
                  <a:srgbClr val="111111"/>
                </a:solidFill>
                <a:latin typeface="Arial"/>
              </a:rPr>
              <a:t>Analyte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" y="3273552"/>
            <a:ext cx="1828800" cy="365760"/>
          </a:xfrm>
          <a:prstGeom prst="roundRect">
            <a:avLst>
              <a:gd name="adj" fmla="val 12000"/>
            </a:avLst>
          </a:prstGeom>
          <a:solidFill>
            <a:srgbClr val="EBDDF1"/>
          </a:solidFill>
          <a:ln w="19050">
            <a:solidFill>
              <a:srgbClr val="6B3A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68" b="0">
                <a:solidFill>
                  <a:srgbClr val="111111"/>
                </a:solidFill>
                <a:latin typeface="Arial"/>
              </a:rPr>
              <a:t>Prior diagnosis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" y="3959352"/>
            <a:ext cx="1828800" cy="365760"/>
          </a:xfrm>
          <a:prstGeom prst="roundRect">
            <a:avLst>
              <a:gd name="adj" fmla="val 12000"/>
            </a:avLst>
          </a:prstGeom>
          <a:solidFill>
            <a:srgbClr val="D2EEF0"/>
          </a:solidFill>
          <a:ln w="19050">
            <a:solidFill>
              <a:srgbClr val="0B7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68" b="0">
                <a:solidFill>
                  <a:srgbClr val="111111"/>
                </a:solidFill>
                <a:latin typeface="Arial"/>
              </a:rPr>
              <a:t>Prior lab 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" y="4919472"/>
            <a:ext cx="1828800" cy="365760"/>
          </a:xfrm>
          <a:prstGeom prst="roundRect">
            <a:avLst>
              <a:gd name="adj" fmla="val 12000"/>
            </a:avLst>
          </a:prstGeom>
          <a:solidFill>
            <a:srgbClr val="D2EEF0"/>
          </a:solidFill>
          <a:ln w="19050">
            <a:solidFill>
              <a:srgbClr val="0B7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68" b="0">
                <a:solidFill>
                  <a:srgbClr val="111111"/>
                </a:solidFill>
                <a:latin typeface="Arial"/>
              </a:rPr>
              <a:t>Prior lab result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22392" y="2898648"/>
            <a:ext cx="784189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18288"/>
          <a:lstStyle/>
          <a:p>
            <a:pPr algn="l"/>
            <a:r>
              <a:rPr sz="1152" b="0">
                <a:solidFill>
                  <a:srgbClr val="111111"/>
                </a:solidFill>
                <a:latin typeface="Arial"/>
              </a:rPr>
              <a:t>has_visit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76152" y="2642616"/>
            <a:ext cx="1416222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18288"/>
          <a:lstStyle/>
          <a:p>
            <a:pPr algn="ctr"/>
            <a:r>
              <a:rPr sz="1152" b="0">
                <a:solidFill>
                  <a:srgbClr val="111111"/>
                </a:solidFill>
                <a:latin typeface="Arial"/>
              </a:rPr>
              <a:t>reports_complaint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4658" y="3557016"/>
            <a:ext cx="1179210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18288"/>
          <a:lstStyle/>
          <a:p>
            <a:pPr algn="ctr"/>
            <a:r>
              <a:rPr sz="1152" b="0">
                <a:solidFill>
                  <a:srgbClr val="111111"/>
                </a:solidFill>
                <a:latin typeface="Arial"/>
              </a:rPr>
              <a:t>observed_vital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3205" y="4251959"/>
            <a:ext cx="942197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18288"/>
          <a:lstStyle/>
          <a:p>
            <a:pPr algn="ctr"/>
            <a:r>
              <a:rPr sz="1152" b="0">
                <a:solidFill>
                  <a:srgbClr val="111111"/>
                </a:solidFill>
                <a:latin typeface="Arial"/>
              </a:rPr>
              <a:t>measured_in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2624328"/>
            <a:ext cx="1969251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18288"/>
          <a:lstStyle/>
          <a:p>
            <a:pPr algn="l"/>
            <a:r>
              <a:rPr sz="1152" b="0">
                <a:solidFill>
                  <a:srgbClr val="111111"/>
                </a:solidFill>
                <a:latin typeface="Arial"/>
              </a:rPr>
              <a:t>co_complaint (both ways)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5394959"/>
            <a:ext cx="942197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18288"/>
          <a:lstStyle/>
          <a:p>
            <a:pPr algn="l"/>
            <a:r>
              <a:rPr sz="1152" b="0">
                <a:solidFill>
                  <a:srgbClr val="111111"/>
                </a:solidFill>
                <a:latin typeface="Arial"/>
              </a:rPr>
              <a:t>instance_of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27838" y="3209544"/>
            <a:ext cx="1969251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18288"/>
          <a:lstStyle/>
          <a:p>
            <a:pPr algn="ctr"/>
            <a:r>
              <a:rPr sz="1152" b="0">
                <a:solidFill>
                  <a:srgbClr val="111111"/>
                </a:solidFill>
                <a:latin typeface="Arial"/>
              </a:rPr>
              <a:t>recurrence_of (optional)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74519" y="4526280"/>
            <a:ext cx="1100206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18288"/>
          <a:lstStyle/>
          <a:p>
            <a:pPr algn="l"/>
            <a:r>
              <a:rPr sz="1152" b="0">
                <a:solidFill>
                  <a:srgbClr val="111111"/>
                </a:solidFill>
                <a:latin typeface="Arial"/>
              </a:rPr>
              <a:t>trajectory_of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67245" y="4837176"/>
            <a:ext cx="942197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18288"/>
          <a:lstStyle/>
          <a:p>
            <a:pPr algn="ctr"/>
            <a:r>
              <a:rPr sz="1152" b="1">
                <a:solidFill>
                  <a:srgbClr val="0B7A75"/>
                </a:solidFill>
                <a:latin typeface="Arial"/>
              </a:rPr>
              <a:t>baseline_of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5211" y="5202936"/>
            <a:ext cx="2206264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18288"/>
          <a:lstStyle/>
          <a:p>
            <a:pPr algn="ctr"/>
            <a:r>
              <a:rPr sz="1152" b="0">
                <a:solidFill>
                  <a:srgbClr val="111111"/>
                </a:solidFill>
                <a:latin typeface="Arial"/>
              </a:rPr>
              <a:t>Δ value, Δ time on the edge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72885" y="5623559"/>
            <a:ext cx="942197" cy="2011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18288" bIns="18288"/>
          <a:lstStyle/>
          <a:p>
            <a:pPr algn="ctr"/>
            <a:r>
              <a:rPr sz="1152" b="0">
                <a:solidFill>
                  <a:srgbClr val="111111"/>
                </a:solidFill>
                <a:latin typeface="Arial"/>
              </a:rPr>
              <a:t>instance_of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Forward view in the core study; typed reverse edges are optional.  Schematic — not patient data.  Asset: docs/presentations/cei-overview/assets/clinical-graph.svg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16324F"/>
                </a:solidFill>
                <a:latin typeface="Arial"/>
              </a:rPr>
              <a:t>CEI-GNN: a diagnosis score you can decompose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051560"/>
            <a:ext cx="822960" cy="45720"/>
          </a:xfrm>
          <a:prstGeom prst="rect">
            <a:avLst/>
          </a:prstGeom>
          <a:solidFill>
            <a:srgbClr val="0B7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Arial"/>
              </a:rPr>
              <a:t>Each class score is an exact sum of signed evidence terms: positive supports the class, negative opposes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760720" cy="713232"/>
          </a:xfrm>
          <a:prstGeom prst="roundRect">
            <a:avLst>
              <a:gd name="adj" fmla="val 12000"/>
            </a:avLst>
          </a:prstGeom>
          <a:solidFill>
            <a:srgbClr val="DCE6F2"/>
          </a:solidFill>
          <a:ln w="19050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48256"/>
            <a:ext cx="548640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Node evidence</a:t>
            </a:r>
            <a:r>
              <a:rPr sz="1500" b="0">
                <a:solidFill>
                  <a:srgbClr val="555555"/>
                </a:solidFill>
                <a:latin typeface="Arial"/>
              </a:rPr>
              <a:t>  –  what each node is, its type and its numeric value (labs/vitals via PLE)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0" y="2368296"/>
            <a:ext cx="50292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40080" y="2834640"/>
            <a:ext cx="5760720" cy="713232"/>
          </a:xfrm>
          <a:prstGeom prst="roundRect">
            <a:avLst>
              <a:gd name="adj" fmla="val 12000"/>
            </a:avLst>
          </a:prstGeom>
          <a:solidFill>
            <a:srgbClr val="D2EEF0"/>
          </a:solidFill>
          <a:ln w="19050">
            <a:solidFill>
              <a:srgbClr val="0B7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71216"/>
            <a:ext cx="548640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Edge evidence</a:t>
            </a:r>
            <a:r>
              <a:rPr sz="1500" b="0">
                <a:solidFill>
                  <a:srgbClr val="555555"/>
                </a:solidFill>
                <a:latin typeface="Arial"/>
              </a:rPr>
              <a:t>  –  both endpoints plus relation payload, e.g. a rise since baseline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3191256"/>
            <a:ext cx="50292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3657600"/>
            <a:ext cx="5760720" cy="713232"/>
          </a:xfrm>
          <a:prstGeom prst="roundRect">
            <a:avLst>
              <a:gd name="adj" fmla="val 12000"/>
            </a:avLst>
          </a:prstGeom>
          <a:solidFill>
            <a:srgbClr val="FCE8CF"/>
          </a:solidFill>
          <a:ln w="19050">
            <a:solidFill>
              <a:srgbClr val="9A5B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94176"/>
            <a:ext cx="548640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Within-visit pair evidence</a:t>
            </a:r>
            <a:r>
              <a:rPr sz="1500" b="0">
                <a:solidFill>
                  <a:srgbClr val="555555"/>
                </a:solidFill>
                <a:latin typeface="Arial"/>
              </a:rPr>
              <a:t>  –  additive pair terms inside one visit (v2 mode, kept in v3)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4014215"/>
            <a:ext cx="50292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4480560"/>
            <a:ext cx="5760720" cy="713232"/>
          </a:xfrm>
          <a:prstGeom prst="roundRect">
            <a:avLst>
              <a:gd name="adj" fmla="val 12000"/>
            </a:avLst>
          </a:prstGeom>
          <a:solidFill>
            <a:srgbClr val="EBDDF1"/>
          </a:solidFill>
          <a:ln w="19050">
            <a:solidFill>
              <a:srgbClr val="6B3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517136"/>
            <a:ext cx="548640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Absence evidence</a:t>
            </a:r>
            <a:r>
              <a:rPr sz="1500" b="0">
                <a:solidFill>
                  <a:srgbClr val="555555"/>
                </a:solidFill>
                <a:latin typeface="Arial"/>
              </a:rPr>
              <a:t>  –  “No recorded result at the index visit”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0" y="4837176"/>
            <a:ext cx="50292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" y="5303520"/>
            <a:ext cx="5760720" cy="713232"/>
          </a:xfrm>
          <a:prstGeom prst="roundRect">
            <a:avLst>
              <a:gd name="adj" fmla="val 12000"/>
            </a:avLst>
          </a:prstGeom>
          <a:solidFill>
            <a:srgbClr val="F1F1F1"/>
          </a:solidFill>
          <a:ln w="19050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40096"/>
            <a:ext cx="548640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Class bias</a:t>
            </a:r>
            <a:r>
              <a:rPr sz="1500" b="0">
                <a:solidFill>
                  <a:srgbClr val="555555"/>
                </a:solidFill>
                <a:latin typeface="Arial"/>
              </a:rPr>
              <a:t>  –  a per-class constant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0" y="5660136"/>
            <a:ext cx="502920" cy="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03720" y="2368296"/>
            <a:ext cx="0" cy="329184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03720" y="4014215"/>
            <a:ext cx="502920" cy="0"/>
          </a:xfrm>
          <a:prstGeom prst="line">
            <a:avLst/>
          </a:prstGeom>
          <a:ln w="38100">
            <a:solidFill>
              <a:srgbClr val="0B7A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52360" y="3017520"/>
            <a:ext cx="4160520" cy="2011680"/>
          </a:xfrm>
          <a:prstGeom prst="roundRect">
            <a:avLst>
              <a:gd name="adj" fmla="val 12000"/>
            </a:avLst>
          </a:prstGeom>
          <a:solidFill>
            <a:srgbClr val="D2EEF0"/>
          </a:solidFill>
          <a:ln w="28575">
            <a:solidFill>
              <a:srgbClr val="0B7A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3108960"/>
            <a:ext cx="3977639" cy="1828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rial"/>
              </a:rPr>
              <a:t>Class score (logit)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111111"/>
                </a:solidFill>
                <a:latin typeface="Arial"/>
              </a:rPr>
              <a:t>= bias + node + edge + pair + absence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555555"/>
                </a:solidFill>
                <a:latin typeface="Arial"/>
              </a:rPr>
              <a:t>Scores, not probabilities. One such decomposition per class.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1920240"/>
            <a:ext cx="41605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111111"/>
                </a:solidFill>
                <a:latin typeface="Arial"/>
              </a:rPr>
              <a:t>Not a deep message-passing GNN: nodes and edges are scored and aggregated separately, so every term can be read off.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5212080"/>
            <a:ext cx="416052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Missing results reflect the recording and care process, not a negative finding or causal explanation.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PLE = piecewise-linear encoding of numeric values, fitted on training data (K = 4 selected). CEI v3 builds on the additive v2 pair mode; the multiplicative pair interaction was not successful.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16324F"/>
                </a:solidFill>
                <a:latin typeface="Arial"/>
              </a:rPr>
              <a:t>Prediction and explanation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051560"/>
            <a:ext cx="822960" cy="45720"/>
          </a:xfrm>
          <a:prstGeom prst="rect">
            <a:avLst/>
          </a:prstGeom>
          <a:solidFill>
            <a:srgbClr val="0B7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33375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rial"/>
              </a:rPr>
              <a:t>Primary screen: macro-F1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33375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82296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Macro-F1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Active</a:t>
                      </a:r>
                    </a:p>
                    <a:p>
                      <a:r>
                        <a:t>params</a:t>
                      </a:r>
                    </a:p>
                  </a:txBody>
                  <a:tcPr anchor="ctr">
                    <a:solidFill>
                      <a:srgbClr val="1632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CEI-GNN v3</a:t>
                      </a:r>
                    </a:p>
                  </a:txBody>
                  <a:tcPr anchor="ctr">
                    <a:solidFill>
                      <a:srgbClr val="D2EE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11111"/>
                          </a:solidFill>
                          <a:latin typeface="Arial"/>
                        </a:rPr>
                        <a:t>0.6418</a:t>
                      </a:r>
                    </a:p>
                  </a:txBody>
                  <a:tcPr anchor="ctr">
                    <a:solidFill>
                      <a:srgbClr val="D2EE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11111"/>
                          </a:solidFill>
                          <a:latin typeface="Arial"/>
                        </a:rPr>
                        <a:t>94,380</a:t>
                      </a:r>
                    </a:p>
                  </a:txBody>
                  <a:tcPr anchor="ctr">
                    <a:solidFill>
                      <a:srgbClr val="D2EE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CEI-GNN v2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0.6420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92,300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ProtGNN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0.6371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399,884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11111"/>
                          </a:solidFill>
                          <a:latin typeface="Arial"/>
                        </a:rPr>
                        <a:t>0.6371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11111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005072"/>
            <a:ext cx="333756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Patient-equal macro-F1; 5,000 screen visits / 3 seeds.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535424"/>
            <a:ext cx="33375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Arial"/>
              </a:rPr>
              <a:t>v2 control: 94,380 total, 92,300 active. XGBoost: not a neural parameter 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193792"/>
            <a:ext cx="329184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0B7A75"/>
                </a:solidFill>
                <a:latin typeface="Arial"/>
              </a:rPr>
              <a:t>No decisive accuracy gain on the primary screen.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6512" y="1261872"/>
            <a:ext cx="7543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rial"/>
              </a:rPr>
              <a:t>Explanation quality: CEI / ProtGNN (3-seed means)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69080" y="1691640"/>
          <a:ext cx="754380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965960"/>
                <a:gridCol w="2148840"/>
                <a:gridCol w="2011680"/>
              </a:tblGrid>
              <a:tr h="4648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Explainer</a:t>
                      </a:r>
                    </a:p>
                  </a:txBody>
                  <a:tcPr anchor="ctr" marL="41148" marR="41148" marT="18288" marB="18288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Fidelity-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(lower better)</a:t>
                      </a:r>
                    </a:p>
                  </a:txBody>
                  <a:tcPr anchor="ctr" marL="41148" marR="41148" marT="18288" marB="18288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Fidelity+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(higher better)</a:t>
                      </a:r>
                    </a:p>
                  </a:txBody>
                  <a:tcPr anchor="ctr" marL="41148" marR="41148" marT="18288" marB="18288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Sparsity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(higher better)</a:t>
                      </a:r>
                    </a:p>
                  </a:txBody>
                  <a:tcPr anchor="ctr" marL="41148" marR="41148" marT="18288" marB="18288">
                    <a:solidFill>
                      <a:srgbClr val="16324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Native</a:t>
                      </a:r>
                    </a:p>
                  </a:txBody>
                  <a:tcPr anchor="ctr" marL="41148" marR="41148" marT="18288" marB="18288">
                    <a:solidFill>
                      <a:srgbClr val="D2EE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0.105 / N/A</a:t>
                      </a:r>
                    </a:p>
                  </a:txBody>
                  <a:tcPr anchor="ctr" marL="41148" marR="41148" marT="18288" marB="18288">
                    <a:solidFill>
                      <a:srgbClr val="D2EE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0.554 / N/A</a:t>
                      </a:r>
                    </a:p>
                  </a:txBody>
                  <a:tcPr anchor="ctr" marL="41148" marR="41148" marT="18288" marB="18288">
                    <a:solidFill>
                      <a:srgbClr val="D2EE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11111"/>
                          </a:solidFill>
                          <a:latin typeface="Arial"/>
                        </a:rPr>
                        <a:t>0.700 / N/A</a:t>
                      </a:r>
                    </a:p>
                  </a:txBody>
                  <a:tcPr anchor="ctr" marL="41148" marR="41148" marT="18288" marB="18288">
                    <a:solidFill>
                      <a:srgbClr val="D2EEF0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GradExplainer</a:t>
                      </a:r>
                    </a:p>
                  </a:txBody>
                  <a:tcPr anchor="ctr" marL="41148" marR="41148" marT="18288" marB="18288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0.144 / 0.571</a:t>
                      </a:r>
                    </a:p>
                  </a:txBody>
                  <a:tcPr anchor="ctr" marL="41148" marR="41148" marT="18288" marB="18288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0.509 / 0.510</a:t>
                      </a:r>
                    </a:p>
                  </a:txBody>
                  <a:tcPr anchor="ctr" marL="41148" marR="41148" marT="18288" marB="18288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0.513 / 0.388</a:t>
                      </a:r>
                    </a:p>
                  </a:txBody>
                  <a:tcPr anchor="ctr" marL="41148" marR="41148" marT="18288" marB="18288">
                    <a:solidFill>
                      <a:srgbClr val="F4F4F4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Integrated Gradients</a:t>
                      </a:r>
                    </a:p>
                  </a:txBody>
                  <a:tcPr anchor="ctr" marL="41148" marR="4114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0.100 / 0.570</a:t>
                      </a:r>
                    </a:p>
                  </a:txBody>
                  <a:tcPr anchor="ctr" marL="41148" marR="4114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0.538 / 0.535</a:t>
                      </a:r>
                    </a:p>
                  </a:txBody>
                  <a:tcPr anchor="ctr" marL="41148" marR="4114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0.521 / 0.289</a:t>
                      </a:r>
                    </a:p>
                  </a:txBody>
                  <a:tcPr anchor="ctr" marL="41148" marR="41148" marT="18288" marB="18288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GNNExplainer</a:t>
                      </a:r>
                    </a:p>
                  </a:txBody>
                  <a:tcPr anchor="ctr" marL="41148" marR="41148" marT="18288" marB="18288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0.398 / 0.576</a:t>
                      </a:r>
                    </a:p>
                  </a:txBody>
                  <a:tcPr anchor="ctr" marL="41148" marR="41148" marT="18288" marB="18288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0.216 / 0.381</a:t>
                      </a:r>
                    </a:p>
                  </a:txBody>
                  <a:tcPr anchor="ctr" marL="41148" marR="41148" marT="18288" marB="18288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0.269 / 0.270</a:t>
                      </a:r>
                    </a:p>
                  </a:txBody>
                  <a:tcPr anchor="ctr" marL="41148" marR="41148" marT="18288" marB="18288">
                    <a:solidFill>
                      <a:srgbClr val="F4F4F4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Random</a:t>
                      </a:r>
                    </a:p>
                  </a:txBody>
                  <a:tcPr anchor="ctr" marL="41148" marR="4114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0.484 / 0.578</a:t>
                      </a:r>
                    </a:p>
                  </a:txBody>
                  <a:tcPr anchor="ctr" marL="41148" marR="4114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0.107 / 0.309</a:t>
                      </a:r>
                    </a:p>
                  </a:txBody>
                  <a:tcPr anchor="ctr" marL="41148" marR="4114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11111"/>
                          </a:solidFill>
                          <a:latin typeface="Arial"/>
                        </a:rPr>
                        <a:t>0.285 / 0.285</a:t>
                      </a:r>
                    </a:p>
                  </a:txBody>
                  <a:tcPr anchor="ctr" marL="41148" marR="4114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096512" y="4553712"/>
            <a:ext cx="7452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rial"/>
              </a:rPr>
              <a:t>500 screen visits / 498 subjects / 3 seeds. Native ProtGNN attribution unavailable in this implementation.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5010912"/>
            <a:ext cx="7452360" cy="6766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  <a:latin typeface="Arial"/>
              </a:rPr>
              <a:t>Grad/IG: lower fidelity- and higher sparsity; fidelity+ gains not established. GNNExplainer fidelity+ favors ProtGNN.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555555"/>
                </a:solidFill>
                <a:latin typeface="Arial"/>
              </a:rPr>
              <a:t>Faithfulness to each model, not clinical validity. Held-out test not used.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Arial"/>
              </a:rPr>
              <a:t>Fidelity-: probability drop when only important nodes are kept. Fidelity+: drop when important nodes are masked. Sparsity: fraction excluded at 90% importance mass.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