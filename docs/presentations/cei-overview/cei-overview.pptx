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 1: the graph representation (comparison/standardized/clinical_graph_v2/graph.py). Typed nodes: patient, index visit, complaints, vitals, lab measurements/analytes, optional prior diagnoses. baseline_of / trajectory_of carry signed delta, elapsed hours and rate - a two-endpoint quantity a flat row cannot hold. Prior visits enter through visit membership of their measurements/diagnoses. The index diagnosis is the target, never an input. Directions: has_visit/index_visit_of and has_prior_diagnosis/recurrence_of are inverse pairs; co_complaint and comorbid_with are symmetric (tensorize.py lines 34-44). Forward view is the default (train.py ~213-219, 1046-1050) and is used by the core CEI v3 study (cei_v3_run.py ~210). Optional bidirectional mode adds rev:* edges for 9 relation types; only a bounded train/dev smoke (E6a) was run, so no reported result uses it. Caveat: temporal availability of several sources is assumed, not verified (temporal_clean=false); do not call the graph fully leakage-free. The figure is schematic and contains no patient records. No literature-novelty claim is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 2: CEI-GNN, a class-specific exact signed evidence decomposition of the diagnosis logit (methods/cei_gnn.py, cei_gnn_v2.py, cei_gnn_v3.py). Logit(class) = bias + normalised node + edge + within-visit pair + absence contributions. Nodes carry identity, type and numeric encoding; edges inspect both endpoints plus relation payload and are aggregated separately. PLE: train-fitted piecewise-linear encoding for lab/vital values, K=4 selected. Absence block means 'no recorded result at the index visit' - not a negative finding and not proof that a test was not ordered; missingness reflects the recording/care process. The decomposition is exact on logits, not probabilities. The method name CEI-GNN is used without an invented expansion. v3 uses the v2 additive pair mode; the multiplicative pair interaction did not succeed.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keys: docs/cei-v3-evidence-2026-10-01.json graphxai.seed_means and graphxai.C_minus_P. Absolute seed means C_K4 / P, rounded to 3 decimals:</a:t>
            </a:r>
          </a:p>
          <a:p>
            <a:r>
              <a:t>Native: fidelity_minus=0.105/N/A; fidelity_plus=0.554/N/A; sparsity=0.700/N/A</a:t>
            </a:r>
          </a:p>
          <a:p>
            <a:r>
              <a:t>GradExplainer: fidelity_minus=0.144/0.571; fidelity_plus=0.509/0.510; sparsity=0.513/0.388</a:t>
            </a:r>
          </a:p>
          <a:p>
            <a:r>
              <a:t>IntegratedGradExplainer: fidelity_minus=0.100/0.570; fidelity_plus=0.538/0.535; sparsity=0.521/0.289</a:t>
            </a:r>
          </a:p>
          <a:p>
            <a:r>
              <a:t>GNNExplainer: fidelity_minus=0.398/0.576; fidelity_plus=0.216/0.381; sparsity=0.269/0.270</a:t>
            </a:r>
          </a:p>
          <a:p>
            <a:r>
              <a:t>Random: fidelity_minus=0.484/0.578; fidelity_plus=0.107/0.309; sparsity=0.285/0.285</a:t>
            </a:r>
          </a:p>
          <a:p>
            <a:r>
              <a:t>Paired differences are C_minus_P, not absolute scores; 95% paired subject-cluster bootstrap CIs, conditional on three checkpoints:</a:t>
            </a:r>
          </a:p>
          <a:p>
            <a:r>
              <a:t>GradExplainer: fidelity_minus: delta C_minus_P=-0.427162, 95% CI=[-0.44985684363473355, -0.40430027914714267]; fidelity_plus: delta C_minus_P=-0.000864, 95% CI=[-0.018268945488595492, 0.01593477348389595]; sparsity: delta C_minus_P=0.125484, 95% CI=[0.11304490685296074, 0.13725250397127586]</a:t>
            </a:r>
          </a:p>
          <a:p>
            <a:r>
              <a:t>IntegratedGradExplainer: fidelity_minus: delta C_minus_P=-0.470263, 95% CI=[-0.4935411711680781, -0.44786387276011425]; fidelity_plus: delta C_minus_P=0.003283, 95% CI=[-0.01288460690326586, 0.018862188015107674]; sparsity: delta C_minus_P=0.231820, 95% CI=[0.2217338810107095, 0.2406996905288059]</a:t>
            </a:r>
          </a:p>
          <a:p>
            <a:r>
              <a:t>GNNExplainer: fidelity_minus: delta C_minus_P=-0.177784, 95% CI=[-0.20115243419378384, -0.15470507840750994]; fidelity_plus: delta C_minus_P=-0.165147, 95% CI=[-0.18303717712992937, -0.14623125127908276]; sparsity: delta C_minus_P=-0.000995, 95% CI=[-0.002651219104876419, 0.0006569820379281496]</a:t>
            </a:r>
          </a:p>
          <a:p>
            <a:r>
              <a:t>Random: fidelity_minus: delta C_minus_P=-0.094264, 95% CI=[-0.11447657641503317, -0.07460849767977928]; fidelity_plus: delta C_minus_P=-0.201560, 95% CI=[-0.2187959747065453, -0.18241111693875542]; sparsity: delta C_minus_P=0.000000, 95% CI=[0.0, 0.0]</a:t>
            </a:r>
          </a:p>
          <a:p>
            <a:r>
              <a:t>Fidelity-minus: prediction change after removing important nodes (keeping important nodes is thereby tested); fidelity-plus: prediction change when important nodes are retained after other nodes are removed. Sparsity is excluded-node fraction at 90% importance mass. Cohort: 500 screen visits / 498 subjects / 3 seeds. Native ProtGNN unavailable. These are model-faithfulness metrics, not clinical validity. No macro-F1 superiority or equivalence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Arial"/>
              </a:rPr>
              <a:t>A shared clinical graph, not a flat patient record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051560"/>
            <a:ext cx="822960" cy="45720"/>
          </a:xfrm>
          <a:prstGeom prst="rect">
            <a:avLst/>
          </a:prstGeom>
          <a:solidFill>
            <a:srgbClr val="0B7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  <a:latin typeface="Arial"/>
              </a:rPr>
              <a:t>One typed graph per decision-time visit: patient, visits, complaints, labs and vitals, with numeric change between earlier and index results kept on the edge. Saved as a reusable project asset.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901952"/>
            <a:ext cx="3566160" cy="429768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15875">
            <a:solidFill>
              <a:srgbClr val="BBBB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929384"/>
            <a:ext cx="338327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96" b="1">
                <a:solidFill>
                  <a:srgbClr val="555555"/>
                </a:solidFill>
                <a:latin typeface="Arial"/>
              </a:rPr>
              <a:t>Earlier visits (before decision time)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3984" y="1901952"/>
            <a:ext cx="7132320" cy="429768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15875">
            <a:solidFill>
              <a:srgbClr val="BBBB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5424" y="1929384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96" b="1">
                <a:solidFill>
                  <a:srgbClr val="555555"/>
                </a:solidFill>
                <a:latin typeface="Arial"/>
              </a:rPr>
              <a:t>Index visit (decision time)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58384" y="2724912"/>
            <a:ext cx="0" cy="54864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5998464" y="2359152"/>
            <a:ext cx="1371600" cy="109728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5998464" y="3090672"/>
            <a:ext cx="1371600" cy="36576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998464" y="3456432"/>
            <a:ext cx="1371600" cy="45720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98464" y="3456432"/>
            <a:ext cx="1371600" cy="164592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193024" y="2542032"/>
            <a:ext cx="0" cy="365760"/>
          </a:xfrm>
          <a:prstGeom prst="line">
            <a:avLst/>
          </a:prstGeom>
          <a:ln w="19050">
            <a:solidFill>
              <a:srgbClr val="11111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193024" y="5285232"/>
            <a:ext cx="0" cy="41148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06624" y="3456432"/>
            <a:ext cx="2011680" cy="0"/>
          </a:xfrm>
          <a:prstGeom prst="line">
            <a:avLst/>
          </a:prstGeom>
          <a:ln w="19050">
            <a:solidFill>
              <a:srgbClr val="11111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792224" y="4325112"/>
            <a:ext cx="0" cy="59436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06624" y="5102352"/>
            <a:ext cx="4663440" cy="0"/>
          </a:xfrm>
          <a:prstGeom prst="line">
            <a:avLst/>
          </a:prstGeom>
          <a:ln w="31750">
            <a:solidFill>
              <a:srgbClr val="0B7A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92224" y="5285232"/>
            <a:ext cx="0" cy="59436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792224" y="5879592"/>
            <a:ext cx="5577840" cy="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718304" y="2359152"/>
            <a:ext cx="1280160" cy="365760"/>
          </a:xfrm>
          <a:prstGeom prst="roundRect">
            <a:avLst>
              <a:gd name="adj" fmla="val 12000"/>
            </a:avLst>
          </a:prstGeom>
          <a:solidFill>
            <a:srgbClr val="DCE6F2"/>
          </a:solidFill>
          <a:ln w="19050">
            <a:solidFill>
              <a:srgbClr val="163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Patient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18304" y="3273552"/>
            <a:ext cx="1280160" cy="365760"/>
          </a:xfrm>
          <a:prstGeom prst="roundRect">
            <a:avLst>
              <a:gd name="adj" fmla="val 12000"/>
            </a:avLst>
          </a:prstGeom>
          <a:solidFill>
            <a:srgbClr val="DCE6F2"/>
          </a:solidFill>
          <a:ln w="19050">
            <a:solidFill>
              <a:srgbClr val="163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Index visit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70064" y="217627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FCE8CF"/>
          </a:solidFill>
          <a:ln w="19050">
            <a:solidFill>
              <a:srgbClr val="9A5B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Complaint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70064" y="290779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FCE8CF"/>
          </a:solidFill>
          <a:ln w="19050">
            <a:solidFill>
              <a:srgbClr val="9A5B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Complaint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70064" y="373075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E1F2DE"/>
          </a:solidFill>
          <a:ln w="19050">
            <a:solidFill>
              <a:srgbClr val="3C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Vital sign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70064" y="491947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Lab result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70064" y="569671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Analyte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7824" y="3273552"/>
            <a:ext cx="1828800" cy="365760"/>
          </a:xfrm>
          <a:prstGeom prst="roundRect">
            <a:avLst>
              <a:gd name="adj" fmla="val 12000"/>
            </a:avLst>
          </a:prstGeom>
          <a:solidFill>
            <a:srgbClr val="EBDDF1"/>
          </a:solidFill>
          <a:ln w="19050">
            <a:solidFill>
              <a:srgbClr val="6B3A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Prior diagnosis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7824" y="3959352"/>
            <a:ext cx="1828800" cy="36576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Prior lab result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7824" y="4919472"/>
            <a:ext cx="1828800" cy="36576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Prior lab result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22392" y="2898648"/>
            <a:ext cx="784189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l"/>
            <a:r>
              <a:rPr sz="1152" b="0">
                <a:solidFill>
                  <a:srgbClr val="111111"/>
                </a:solidFill>
                <a:latin typeface="Arial"/>
              </a:rPr>
              <a:t>has_visit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76152" y="2642616"/>
            <a:ext cx="1416222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reports_complaint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4658" y="3557016"/>
            <a:ext cx="1179210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observed_vital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3205" y="4251959"/>
            <a:ext cx="942197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measured_in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5320" y="2624328"/>
            <a:ext cx="1969251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l"/>
            <a:r>
              <a:rPr sz="1152" b="0">
                <a:solidFill>
                  <a:srgbClr val="111111"/>
                </a:solidFill>
                <a:latin typeface="Arial"/>
              </a:rPr>
              <a:t>co_complaint (both ways)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5394959"/>
            <a:ext cx="942197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l"/>
            <a:r>
              <a:rPr sz="1152" b="0">
                <a:solidFill>
                  <a:srgbClr val="111111"/>
                </a:solidFill>
                <a:latin typeface="Arial"/>
              </a:rPr>
              <a:t>instance_of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27838" y="3209544"/>
            <a:ext cx="1969251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recurrence_of (optional)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74519" y="4526280"/>
            <a:ext cx="1100206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l"/>
            <a:r>
              <a:rPr sz="1152" b="0">
                <a:solidFill>
                  <a:srgbClr val="111111"/>
                </a:solidFill>
                <a:latin typeface="Arial"/>
              </a:rPr>
              <a:t>trajectory_of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7245" y="4837176"/>
            <a:ext cx="942197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1">
                <a:solidFill>
                  <a:srgbClr val="0B7A75"/>
                </a:solidFill>
                <a:latin typeface="Arial"/>
              </a:rPr>
              <a:t>baseline_of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35211" y="5202936"/>
            <a:ext cx="2206264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Δ value, Δ time on the edge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72885" y="5623559"/>
            <a:ext cx="942197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instance_of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327648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Forward view in the core study; typed reverse edges are optional.  Schematic — not patient data.  Asset: docs/presentations/cei-overview/assets/clinical-graph.svg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Arial"/>
              </a:rPr>
              <a:t>CEI-GNN: a diagnosis score you can decompose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051560"/>
            <a:ext cx="822960" cy="45720"/>
          </a:xfrm>
          <a:prstGeom prst="rect">
            <a:avLst/>
          </a:prstGeom>
          <a:solidFill>
            <a:srgbClr val="0B7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  <a:latin typeface="Arial"/>
              </a:rPr>
              <a:t>Each class score is an exact sum of signed evidence terms: positive supports the class, negative opposes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DCE6F2"/>
          </a:solidFill>
          <a:ln w="19050">
            <a:solidFill>
              <a:srgbClr val="163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4825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Node evidence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what each node is, its type and its numeric value (labs/vitals via PLE)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0" y="2368296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283464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7121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Edge evidence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both endpoints plus relation payload, e.g. a rise since baseline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0" y="3191256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40080" y="365760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FCE8CF"/>
          </a:solidFill>
          <a:ln w="19050">
            <a:solidFill>
              <a:srgbClr val="9A5B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9417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Within-visit pair evidence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additive pair terms inside one visit (v2 mode, kept in v3)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0" y="4014215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448056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EBDDF1"/>
          </a:solidFill>
          <a:ln w="19050">
            <a:solidFill>
              <a:srgbClr val="6B3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51713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Absence evidence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“No recorded result at the index visit”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0" y="4837176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530352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 w="19050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34009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Class bias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a per-class constant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0" y="5660136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03720" y="2368296"/>
            <a:ext cx="0" cy="329184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903720" y="4014215"/>
            <a:ext cx="502920" cy="0"/>
          </a:xfrm>
          <a:prstGeom prst="line">
            <a:avLst/>
          </a:prstGeom>
          <a:ln w="38100">
            <a:solidFill>
              <a:srgbClr val="0B7A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52360" y="3017520"/>
            <a:ext cx="4160520" cy="201168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28575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43800" y="3108960"/>
            <a:ext cx="3977639" cy="18288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rial"/>
              </a:rPr>
              <a:t>Class score (logit)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111111"/>
                </a:solidFill>
                <a:latin typeface="Arial"/>
              </a:rPr>
              <a:t>= bias + node + edge + pair + absence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555555"/>
                </a:solidFill>
                <a:latin typeface="Arial"/>
              </a:rPr>
              <a:t>Scores, not probabilities. One such decomposition per class.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1920240"/>
            <a:ext cx="41605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0">
                <a:solidFill>
                  <a:srgbClr val="111111"/>
                </a:solidFill>
                <a:latin typeface="Arial"/>
              </a:rPr>
              <a:t>Not a deep message-passing GNN: nodes and edges are scored and aggregated separately, so every term can be read off.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5212080"/>
            <a:ext cx="41605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rial"/>
              </a:rPr>
              <a:t>Missing results reflect the recording and care process, not a negative finding or causal explanation.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327648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PLE = piecewise-linear encoding of numeric values, fitted on training data (K = 4 selected). CEI v3 builds on the additive v2 pair mode; the multiplicative pair interaction was not successful.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Arial"/>
              </a:rPr>
              <a:t>Accuracy is close; explanation metrics differ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051560"/>
            <a:ext cx="822960" cy="45720"/>
          </a:xfrm>
          <a:prstGeom prst="rect">
            <a:avLst/>
          </a:prstGeom>
          <a:solidFill>
            <a:srgbClr val="0B7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33375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rial"/>
              </a:rPr>
              <a:t>Primary screen: macro-F1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33375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Macro-F1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11111"/>
                          </a:solidFill>
                          <a:latin typeface="Arial"/>
                        </a:rPr>
                        <a:t>CEI-GNN v3</a:t>
                      </a:r>
                    </a:p>
                  </a:txBody>
                  <a:tcPr anchor="ctr">
                    <a:solidFill>
                      <a:srgbClr val="D2EE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11111"/>
                          </a:solidFill>
                          <a:latin typeface="Arial"/>
                        </a:rPr>
                        <a:t>0.642</a:t>
                      </a:r>
                    </a:p>
                  </a:txBody>
                  <a:tcPr anchor="ctr">
                    <a:solidFill>
                      <a:srgbClr val="D2EE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CEI-GNN v2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0.642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ProtGNN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0.637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XGBoost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0.637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822191"/>
            <a:ext cx="333756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rial"/>
              </a:rPr>
              <a:t>Patient-equal macro-F1; 5,000 screen visits / 3 seeds.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572000"/>
            <a:ext cx="329184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700" b="1">
                <a:solidFill>
                  <a:srgbClr val="0B7A75"/>
                </a:solidFill>
                <a:latin typeface="Arial"/>
              </a:rPr>
              <a:t>No decisive accuracy gain on the primary screen.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111"/>
                </a:solidFill>
                <a:latin typeface="Arial"/>
              </a:rPr>
              <a:t>No superiority or equivalence 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1261872"/>
            <a:ext cx="7543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rial"/>
              </a:rPr>
              <a:t>Model-faithfulness metrics (absolute seed means)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069080" y="1691640"/>
          <a:ext cx="754380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965960"/>
                <a:gridCol w="2148840"/>
                <a:gridCol w="2011680"/>
              </a:tblGrid>
              <a:tr h="4648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Explainer</a:t>
                      </a:r>
                    </a:p>
                  </a:txBody>
                  <a:tcPr anchor="ctr" marL="41148" marR="41148" marT="18288" marB="18288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Fidelity-</a:t>
                      </a:r>
                    </a:p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(lower better)</a:t>
                      </a:r>
                    </a:p>
                  </a:txBody>
                  <a:tcPr anchor="ctr" marL="41148" marR="41148" marT="18288" marB="18288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Fidelity+</a:t>
                      </a:r>
                    </a:p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(higher better)</a:t>
                      </a:r>
                    </a:p>
                  </a:txBody>
                  <a:tcPr anchor="ctr" marL="41148" marR="41148" marT="18288" marB="18288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Sparsity</a:t>
                      </a:r>
                    </a:p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(higher better)</a:t>
                      </a:r>
                    </a:p>
                  </a:txBody>
                  <a:tcPr anchor="ctr" marL="41148" marR="41148" marT="18288" marB="18288">
                    <a:solidFill>
                      <a:srgbClr val="16324F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11111"/>
                          </a:solidFill>
                          <a:latin typeface="Arial"/>
                        </a:rPr>
                        <a:t>Native</a:t>
                      </a:r>
                    </a:p>
                  </a:txBody>
                  <a:tcPr anchor="ctr" marL="41148" marR="41148" marT="18288" marB="18288">
                    <a:solidFill>
                      <a:srgbClr val="D2EE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11111"/>
                          </a:solidFill>
                          <a:latin typeface="Arial"/>
                        </a:rPr>
                        <a:t>CEI 0.105 / ProtGNN N/A</a:t>
                      </a:r>
                    </a:p>
                  </a:txBody>
                  <a:tcPr anchor="ctr" marL="41148" marR="41148" marT="18288" marB="18288">
                    <a:solidFill>
                      <a:srgbClr val="D2EE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11111"/>
                          </a:solidFill>
                          <a:latin typeface="Arial"/>
                        </a:rPr>
                        <a:t>CEI 0.554 / ProtGNN N/A</a:t>
                      </a:r>
                    </a:p>
                  </a:txBody>
                  <a:tcPr anchor="ctr" marL="41148" marR="41148" marT="18288" marB="18288">
                    <a:solidFill>
                      <a:srgbClr val="D2EE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11111"/>
                          </a:solidFill>
                          <a:latin typeface="Arial"/>
                        </a:rPr>
                        <a:t>CEI 0.700 / ProtGNN N/A</a:t>
                      </a:r>
                    </a:p>
                  </a:txBody>
                  <a:tcPr anchor="ctr" marL="41148" marR="41148" marT="18288" marB="18288">
                    <a:solidFill>
                      <a:srgbClr val="D2EEF0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GradExplainer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CEI 0.144 / ProtGNN 0.571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CEI 0.509 / ProtGNN 0.510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CEI 0.513 / ProtGNN 0.388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Integrated Gradients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CEI 0.100 / ProtGNN 0.570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CEI 0.538 / ProtGNN 0.535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CEI 0.521 / ProtGNN 0.289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GNNExplainer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CEI 0.398 / ProtGNN 0.576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CEI 0.216 / ProtGNN 0.381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CEI 0.269 / ProtGNN 0.270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Random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CEI 0.484 / ProtGNN 0.578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CEI 0.107 / ProtGNN 0.309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CEI 0.285 / ProtGNN 0.285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096512" y="4553712"/>
            <a:ext cx="7452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rial"/>
              </a:rPr>
              <a:t>500 screen visits / 498 subjects / 3 seeds. Native ProtGNN attribution unavailable in this implementation.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6512" y="5010912"/>
            <a:ext cx="7452360" cy="6766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Arial"/>
              </a:rPr>
              <a:t>Grad/IG: lower fidelity- and higher sparsity; fidelity+ gains not established. GNNExplainer fidelity+ favors ProtGNN.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555555"/>
                </a:solidFill>
                <a:latin typeface="Arial"/>
              </a:rPr>
              <a:t>Faithfulness to each model, not clinical validity.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126480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Fidelity-: remove important nodes; fidelity+: remove unimportant nodes and measure retention. Sparsity: excluded-node fraction at 90% importance mass.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